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65" r:id="rId5"/>
    <p:sldId id="266" r:id="rId6"/>
    <p:sldId id="259" r:id="rId7"/>
    <p:sldId id="267" r:id="rId8"/>
    <p:sldId id="268" r:id="rId9"/>
    <p:sldId id="270" r:id="rId10"/>
    <p:sldId id="271" r:id="rId11"/>
    <p:sldId id="261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534"/>
    <p:restoredTop sz="67556"/>
  </p:normalViewPr>
  <p:slideViewPr>
    <p:cSldViewPr snapToGrid="0" snapToObjects="1">
      <p:cViewPr>
        <p:scale>
          <a:sx n="113" d="100"/>
          <a:sy n="113" d="100"/>
        </p:scale>
        <p:origin x="568" y="-1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3FA2B-D744-124A-86D0-A2221894FFA4}" type="datetimeFigureOut">
              <a:rPr kumimoji="1" lang="zh-CN" altLang="en-US" smtClean="0"/>
              <a:t>2025/12/5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B7CFB-B3F6-DC49-80BE-086825898B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406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This is Group thirty-seven.</a:t>
            </a:r>
          </a:p>
          <a:p>
            <a:r>
              <a:rPr kumimoji="1" lang="en-US" altLang="zh-CN" dirty="0"/>
              <a:t>Our project is running experiments to test if </a:t>
            </a:r>
            <a:r>
              <a:rPr kumimoji="1" lang="en-US" altLang="zh-CN" dirty="0" err="1"/>
              <a:t>depthwise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seperable</a:t>
            </a:r>
            <a:r>
              <a:rPr kumimoji="1" lang="en-US" altLang="zh-CN" dirty="0"/>
              <a:t> convolution make neural style transfer more lightweight.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8192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We already learned an backpropagation-based approach from Lecture ten.</a:t>
            </a:r>
          </a:p>
          <a:p>
            <a:r>
              <a:rPr kumimoji="1" lang="en-US" altLang="zh-CN" dirty="0"/>
              <a:t>However, the backpropagation may take very long time.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510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62C15-D245-8FFF-CD9E-9AC855DB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302AD0-45DF-7361-429E-F28ACA82A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927AA6-FD23-73A4-320C-8ADB02FC6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altLang="zh-CN" dirty="0"/>
              <a:t>To </a:t>
            </a:r>
            <a:r>
              <a:rPr lang="da-DK" altLang="zh-CN" dirty="0" err="1"/>
              <a:t>address</a:t>
            </a:r>
            <a:r>
              <a:rPr lang="da-DK" altLang="zh-CN" dirty="0"/>
              <a:t> </a:t>
            </a:r>
            <a:r>
              <a:rPr lang="da-DK" altLang="zh-CN" dirty="0" err="1"/>
              <a:t>this</a:t>
            </a:r>
            <a:r>
              <a:rPr lang="da-DK" altLang="zh-CN" dirty="0"/>
              <a:t> problem, Johnson </a:t>
            </a:r>
            <a:r>
              <a:rPr lang="da-DK" altLang="zh-CN" dirty="0" err="1"/>
              <a:t>replaces</a:t>
            </a:r>
            <a:r>
              <a:rPr lang="da-DK" altLang="zh-CN" dirty="0"/>
              <a:t> the iterative </a:t>
            </a:r>
            <a:r>
              <a:rPr lang="da-DK" altLang="zh-CN" dirty="0" err="1"/>
              <a:t>backpropagation</a:t>
            </a:r>
            <a:r>
              <a:rPr lang="da-DK" altLang="zh-CN" dirty="0"/>
              <a:t> </a:t>
            </a:r>
            <a:r>
              <a:rPr lang="da-DK" altLang="zh-CN" dirty="0" err="1"/>
              <a:t>process</a:t>
            </a:r>
            <a:r>
              <a:rPr lang="da-DK" altLang="zh-CN" dirty="0"/>
              <a:t> of the original </a:t>
            </a:r>
            <a:r>
              <a:rPr lang="da-DK" altLang="zh-CN" dirty="0" err="1"/>
              <a:t>method</a:t>
            </a:r>
            <a:r>
              <a:rPr lang="da-DK" altLang="zh-CN" dirty="0"/>
              <a:t> with a </a:t>
            </a:r>
            <a:r>
              <a:rPr lang="da-DK" altLang="zh-CN" dirty="0" err="1"/>
              <a:t>pre-trained</a:t>
            </a:r>
            <a:r>
              <a:rPr lang="da-DK" altLang="zh-CN" dirty="0"/>
              <a:t> feed-forward </a:t>
            </a:r>
            <a:r>
              <a:rPr lang="da-DK" altLang="zh-CN" dirty="0" err="1"/>
              <a:t>network</a:t>
            </a:r>
            <a:r>
              <a:rPr lang="da-DK" altLang="zh-CN" dirty="0"/>
              <a:t>, enabling style transfer to run in real-time.</a:t>
            </a:r>
          </a:p>
          <a:p>
            <a:r>
              <a:rPr kumimoji="1" lang="da-DK" altLang="zh-CN" dirty="0"/>
              <a:t>It </a:t>
            </a:r>
            <a:r>
              <a:rPr kumimoji="1" lang="da-DK" altLang="zh-CN" dirty="0" err="1"/>
              <a:t>includs</a:t>
            </a:r>
            <a:r>
              <a:rPr kumimoji="1" lang="da-DK" altLang="zh-CN" dirty="0"/>
              <a:t> </a:t>
            </a:r>
            <a:r>
              <a:rPr kumimoji="1" lang="da-DK" altLang="zh-CN" dirty="0" err="1"/>
              <a:t>encoder</a:t>
            </a:r>
            <a:r>
              <a:rPr kumimoji="1" lang="da-DK" altLang="zh-CN" dirty="0"/>
              <a:t> and </a:t>
            </a:r>
            <a:r>
              <a:rPr kumimoji="1" lang="da-DK" altLang="zh-CN" dirty="0" err="1"/>
              <a:t>decoder</a:t>
            </a:r>
            <a:r>
              <a:rPr kumimoji="1" lang="da-DK" altLang="zh-CN" dirty="0"/>
              <a:t>, and residual </a:t>
            </a:r>
            <a:r>
              <a:rPr kumimoji="1" lang="da-DK" altLang="zh-CN" dirty="0" err="1"/>
              <a:t>blocks</a:t>
            </a:r>
            <a:r>
              <a:rPr kumimoji="1" lang="da-DK" altLang="zh-CN" dirty="0"/>
              <a:t> </a:t>
            </a:r>
            <a:r>
              <a:rPr kumimoji="1" lang="da-DK" altLang="zh-CN" dirty="0" err="1"/>
              <a:t>between</a:t>
            </a:r>
            <a:r>
              <a:rPr kumimoji="1" lang="da-DK" altLang="zh-CN" dirty="0"/>
              <a:t> </a:t>
            </a:r>
            <a:r>
              <a:rPr kumimoji="1" lang="da-DK" altLang="zh-CN" dirty="0" err="1"/>
              <a:t>them</a:t>
            </a:r>
            <a:r>
              <a:rPr kumimoji="1" lang="da-DK" altLang="zh-CN" dirty="0"/>
              <a:t>.</a:t>
            </a:r>
          </a:p>
          <a:p>
            <a:r>
              <a:rPr kumimoji="1" lang="da-DK" altLang="zh-CN" dirty="0" err="1"/>
              <a:t>It’s</a:t>
            </a:r>
            <a:r>
              <a:rPr kumimoji="1" lang="da-DK" altLang="zh-CN" dirty="0"/>
              <a:t> </a:t>
            </a:r>
            <a:r>
              <a:rPr kumimoji="1" lang="da-DK" altLang="zh-CN" dirty="0" err="1"/>
              <a:t>very</a:t>
            </a:r>
            <a:r>
              <a:rPr kumimoji="1" lang="da-DK" altLang="zh-CN" dirty="0"/>
              <a:t> </a:t>
            </a:r>
            <a:r>
              <a:rPr kumimoji="1" lang="da-DK" altLang="zh-CN" dirty="0" err="1"/>
              <a:t>similar</a:t>
            </a:r>
            <a:r>
              <a:rPr kumimoji="1" lang="da-DK" altLang="zh-CN" dirty="0"/>
              <a:t> to an auto-</a:t>
            </a:r>
            <a:r>
              <a:rPr kumimoji="1" lang="da-DK" altLang="zh-CN" dirty="0" err="1"/>
              <a:t>encoder</a:t>
            </a:r>
            <a:r>
              <a:rPr kumimoji="1" lang="da-DK" altLang="zh-CN" dirty="0"/>
              <a:t>, but </a:t>
            </a:r>
            <a:r>
              <a:rPr kumimoji="1" lang="da-DK" altLang="zh-CN" dirty="0" err="1"/>
              <a:t>trained</a:t>
            </a:r>
            <a:r>
              <a:rPr kumimoji="1" lang="da-DK" altLang="zh-CN" dirty="0"/>
              <a:t> with a </a:t>
            </a:r>
            <a:r>
              <a:rPr kumimoji="1" lang="da-DK" altLang="zh-CN" dirty="0" err="1"/>
              <a:t>different</a:t>
            </a:r>
            <a:r>
              <a:rPr kumimoji="1" lang="da-DK" altLang="zh-CN" dirty="0"/>
              <a:t> </a:t>
            </a:r>
            <a:r>
              <a:rPr kumimoji="1" lang="da-DK" altLang="zh-CN" dirty="0" err="1"/>
              <a:t>loss</a:t>
            </a:r>
            <a:r>
              <a:rPr kumimoji="1" lang="da-DK" altLang="zh-CN" dirty="0"/>
              <a:t> </a:t>
            </a:r>
            <a:r>
              <a:rPr kumimoji="1" lang="da-DK" altLang="zh-CN" dirty="0" err="1"/>
              <a:t>function</a:t>
            </a:r>
            <a:r>
              <a:rPr kumimoji="1" lang="da-DK" altLang="zh-CN" dirty="0"/>
              <a:t> to </a:t>
            </a:r>
            <a:r>
              <a:rPr kumimoji="1" lang="da-DK" altLang="zh-CN" dirty="0" err="1"/>
              <a:t>take</a:t>
            </a:r>
            <a:r>
              <a:rPr kumimoji="1" lang="da-DK" altLang="zh-CN" dirty="0"/>
              <a:t> style </a:t>
            </a:r>
            <a:r>
              <a:rPr kumimoji="1" lang="da-DK" altLang="zh-CN" dirty="0" err="1"/>
              <a:t>into</a:t>
            </a:r>
            <a:r>
              <a:rPr kumimoji="1" lang="da-DK" altLang="zh-CN" dirty="0"/>
              <a:t> </a:t>
            </a:r>
            <a:r>
              <a:rPr kumimoji="1" lang="da-DK" altLang="zh-CN" dirty="0" err="1"/>
              <a:t>account</a:t>
            </a:r>
            <a:r>
              <a:rPr kumimoji="1" lang="da-DK" altLang="zh-CN" dirty="0"/>
              <a:t>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7B004B-4805-3BB8-F9FA-05AA0390D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2933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F07B-C014-FAB9-1642-6B33D230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B5CFE-F2B6-8ADC-B2DE-C58D837DC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A1232A-59B4-56CA-4379-AF3CC2AE6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We also learned </a:t>
            </a:r>
            <a:r>
              <a:rPr kumimoji="1" lang="en-US" altLang="zh-CN" dirty="0" err="1"/>
              <a:t>depthwise</a:t>
            </a:r>
            <a:r>
              <a:rPr kumimoji="1" lang="en-US" altLang="zh-CN" dirty="0"/>
              <a:t> separable convolution from lecture seven.</a:t>
            </a:r>
            <a:br>
              <a:rPr kumimoji="1" lang="en-US" altLang="zh-CN" dirty="0"/>
            </a:br>
            <a:r>
              <a:rPr kumimoji="1" lang="en-US" altLang="zh-CN" dirty="0"/>
              <a:t>This is a lightweight CNN architecture.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6BB5C1-040B-79C7-2FBE-6FE5644FE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720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4FB97-FEB2-42B7-8F41-C13DA79C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9A518E-2312-718A-E95E-9190AB57A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170437-CEC9-2133-BB24-C55777FE6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altLang="zh-CN" dirty="0"/>
              <a:t>So, </a:t>
            </a:r>
            <a:r>
              <a:rPr lang="da-DK" altLang="zh-CN" dirty="0" err="1"/>
              <a:t>can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da-DK" altLang="zh-CN" dirty="0"/>
              <a:t> </a:t>
            </a:r>
            <a:r>
              <a:rPr lang="da-DK" altLang="zh-CN" dirty="0" err="1"/>
              <a:t>replace</a:t>
            </a:r>
            <a:r>
              <a:rPr lang="da-DK" altLang="zh-CN" dirty="0"/>
              <a:t> </a:t>
            </a:r>
            <a:r>
              <a:rPr lang="da-DK" altLang="zh-CN" dirty="0" err="1"/>
              <a:t>Johnson’s</a:t>
            </a:r>
            <a:r>
              <a:rPr lang="da-DK" altLang="zh-CN" dirty="0"/>
              <a:t> </a:t>
            </a:r>
            <a:r>
              <a:rPr lang="da-DK" altLang="zh-CN" dirty="0" err="1"/>
              <a:t>network</a:t>
            </a:r>
            <a:r>
              <a:rPr lang="da-DK" altLang="zh-CN" dirty="0"/>
              <a:t> with Depth </a:t>
            </a:r>
            <a:r>
              <a:rPr lang="da-DK" altLang="zh-CN" dirty="0" err="1"/>
              <a:t>Sepable</a:t>
            </a:r>
            <a:r>
              <a:rPr lang="da-DK" altLang="zh-CN" dirty="0"/>
              <a:t> </a:t>
            </a:r>
            <a:r>
              <a:rPr lang="da-DK" altLang="zh-CN" dirty="0" err="1"/>
              <a:t>Convolution</a:t>
            </a:r>
            <a:r>
              <a:rPr lang="da-DK" altLang="zh-CN" dirty="0"/>
              <a:t>, </a:t>
            </a:r>
            <a:r>
              <a:rPr lang="da-DK" altLang="zh-CN" dirty="0" err="1"/>
              <a:t>making</a:t>
            </a:r>
            <a:r>
              <a:rPr lang="da-DK" altLang="zh-CN" dirty="0"/>
              <a:t> neural style transfer </a:t>
            </a:r>
            <a:r>
              <a:rPr lang="da-DK" altLang="zh-CN" dirty="0" err="1"/>
              <a:t>even</a:t>
            </a:r>
            <a:r>
              <a:rPr lang="da-DK" altLang="zh-CN" dirty="0"/>
              <a:t> more </a:t>
            </a:r>
            <a:r>
              <a:rPr lang="da-DK" altLang="zh-CN" dirty="0" err="1"/>
              <a:t>lightweight</a:t>
            </a:r>
            <a:r>
              <a:rPr lang="da-DK" altLang="zh-CN" dirty="0"/>
              <a:t>?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C11174-22C4-5009-37E6-5CB7A2CA5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0341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So we built 4 networks to compare them.</a:t>
            </a:r>
            <a:br>
              <a:rPr kumimoji="1" lang="en-US" altLang="zh-CN" dirty="0"/>
            </a:br>
            <a:r>
              <a:rPr kumimoji="1" lang="en-US" altLang="zh-CN" dirty="0"/>
              <a:t>The baseline one is exactly the same as Johnson’s network.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182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E9065-2C07-A066-B302-EE470D10A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73CCDA-17FB-477F-25F5-93F788BB0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5C521E-C9E9-A652-FB3A-AABAF2E95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Version-one replace the residual layers with </a:t>
            </a:r>
            <a:r>
              <a:rPr kumimoji="1" lang="en-US" altLang="zh-CN" dirty="0" err="1"/>
              <a:t>depthwise</a:t>
            </a:r>
            <a:r>
              <a:rPr kumimoji="1" lang="en-US" altLang="zh-CN" dirty="0"/>
              <a:t> separable convolution.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5DAC99-D10D-750B-A1EE-F2AFD7DDE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7062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0127D-2F61-DA1F-9C61-D62A0FD4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813659-684E-8A50-21EA-2691A14FD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3AC21D-2DF4-8F3C-93C7-12C6AA5F7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Version-two also replace the encoder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9802A7-E292-7BC3-EE32-4207ADEC3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591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860CC-BFFC-F534-5C33-1C5F5ACA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54053D-2018-25B2-F901-E406CFB1A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4C1B95-7854-5130-8B68-94BC66FB5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Version-three replace all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867A94-D88C-6815-E5EF-F2810D7C7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379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E3B51-7460-187C-7C93-270209D21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ACC055-4006-6148-8034-C1D5677F8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D12915-3729-D55C-F24F-4D59C9B99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And the results turns out that all lightweight versions reduce parameter size,</a:t>
            </a:r>
          </a:p>
          <a:p>
            <a:r>
              <a:rPr kumimoji="1" lang="en-US" altLang="zh-CN" dirty="0"/>
              <a:t>And computes faster on CPU.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0C26CD-1200-D690-7861-897D1FB2F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000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And the quality of output image are very similar.</a:t>
            </a:r>
          </a:p>
          <a:p>
            <a:r>
              <a:rPr kumimoji="1" lang="en-US" altLang="zh-CN" dirty="0"/>
              <a:t>But lightweight versions are more likely to produce checkerboard-distributed red spots in yellow circle areas.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3059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30DE1-226C-1060-1478-A321D965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273EBD-FD29-2026-B224-41A9D52F9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EAA858-B169-7C01-DD73-41F1FF40E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For more details, please refer to the report.</a:t>
            </a:r>
          </a:p>
          <a:p>
            <a:r>
              <a:rPr kumimoji="1" lang="en-US" altLang="zh-CN"/>
              <a:t>Thank you!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658476-100E-3F17-3790-E54097469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B7CFB-B3F6-DC49-80BE-086825898B3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6456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Can </a:t>
            </a:r>
            <a:r>
              <a:rPr dirty="0" err="1"/>
              <a:t>depthwise</a:t>
            </a:r>
            <a:r>
              <a:rPr dirty="0"/>
              <a:t> separable convolution make neural style transfer more lightweight?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59637"/>
            <a:ext cx="6400800" cy="1752600"/>
          </a:xfrm>
        </p:spPr>
        <p:txBody>
          <a:bodyPr/>
          <a:lstStyle/>
          <a:p>
            <a:r>
              <a:rPr lang="en-US" dirty="0"/>
              <a:t>Group 37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24293" y="324442"/>
            <a:ext cx="9792585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Neural Style Transfer – Original Method</a:t>
            </a:r>
            <a:endParaRPr dirty="0"/>
          </a:p>
        </p:txBody>
      </p:sp>
      <p:pic>
        <p:nvPicPr>
          <p:cNvPr id="6" name="图片 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6FC19852-48F7-A9F7-C34A-ADB46B59B5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21"/>
          <a:stretch>
            <a:fillRect/>
          </a:stretch>
        </p:blipFill>
        <p:spPr>
          <a:xfrm>
            <a:off x="210682" y="1976359"/>
            <a:ext cx="7772400" cy="316668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AE0512F-66F7-2E4A-50E7-CC5F471806EE}"/>
              </a:ext>
            </a:extLst>
          </p:cNvPr>
          <p:cNvSpPr txBox="1"/>
          <p:nvPr/>
        </p:nvSpPr>
        <p:spPr>
          <a:xfrm>
            <a:off x="914400" y="5592726"/>
            <a:ext cx="6868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Slides from lecture 10 – Visualizing and Understanding CNNs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4629BA-1063-FCB5-34E8-12AF3FFA36CE}"/>
              </a:ext>
            </a:extLst>
          </p:cNvPr>
          <p:cNvSpPr txBox="1"/>
          <p:nvPr/>
        </p:nvSpPr>
        <p:spPr>
          <a:xfrm>
            <a:off x="7028318" y="3098037"/>
            <a:ext cx="381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dirty="0">
                <a:solidFill>
                  <a:srgbClr val="FF0000"/>
                </a:solidFill>
              </a:rPr>
              <a:t>SLOW</a:t>
            </a:r>
            <a:endParaRPr kumimoji="1" lang="zh-CN" alt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18F73-ECC0-DF23-7E35-D0CCFE8F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6966-83F4-AD01-C604-668EBA58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2692" y="324442"/>
            <a:ext cx="10529383" cy="1143000"/>
          </a:xfrm>
        </p:spPr>
        <p:txBody>
          <a:bodyPr>
            <a:normAutofit/>
          </a:bodyPr>
          <a:lstStyle/>
          <a:p>
            <a:r>
              <a:rPr lang="en-US" sz="4000" dirty="0"/>
              <a:t>Neural Style Transfer – Johnson’s Method</a:t>
            </a:r>
            <a:endParaRPr sz="4000" dirty="0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A9D63732-FFA6-6414-E707-773F33B0A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5885"/>
            <a:ext cx="9102460" cy="3221503"/>
          </a:xfrm>
          <a:prstGeom prst="rect">
            <a:avLst/>
          </a:prstGeom>
        </p:spPr>
      </p:pic>
      <p:sp>
        <p:nvSpPr>
          <p:cNvPr id="8" name="梯形 7">
            <a:extLst>
              <a:ext uri="{FF2B5EF4-FFF2-40B4-BE49-F238E27FC236}">
                <a16:creationId xmlns:a16="http://schemas.microsoft.com/office/drawing/2014/main" id="{DA7C2DA6-D960-BFAA-4DF3-C587A13AECC3}"/>
              </a:ext>
            </a:extLst>
          </p:cNvPr>
          <p:cNvSpPr/>
          <p:nvPr/>
        </p:nvSpPr>
        <p:spPr>
          <a:xfrm rot="5400000">
            <a:off x="1054019" y="2400149"/>
            <a:ext cx="2444333" cy="2012372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3200" dirty="0"/>
              <a:t>Encoder</a:t>
            </a:r>
            <a:endParaRPr kumimoji="1" lang="zh-CN" altLang="en-US" sz="3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8D89AD-41A8-5ADF-AE1B-B2E43C2BA58E}"/>
              </a:ext>
            </a:extLst>
          </p:cNvPr>
          <p:cNvSpPr/>
          <p:nvPr/>
        </p:nvSpPr>
        <p:spPr>
          <a:xfrm>
            <a:off x="3408219" y="2788921"/>
            <a:ext cx="2394065" cy="129678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/>
              <a:t>Residual</a:t>
            </a:r>
            <a:endParaRPr kumimoji="1" lang="zh-CN" altLang="en-US" sz="3200" dirty="0"/>
          </a:p>
        </p:txBody>
      </p:sp>
      <p:sp>
        <p:nvSpPr>
          <p:cNvPr id="13" name="梯形 12">
            <a:extLst>
              <a:ext uri="{FF2B5EF4-FFF2-40B4-BE49-F238E27FC236}">
                <a16:creationId xmlns:a16="http://schemas.microsoft.com/office/drawing/2014/main" id="{945753D1-9A43-FC7B-50AB-322D61747CC6}"/>
              </a:ext>
            </a:extLst>
          </p:cNvPr>
          <p:cNvSpPr/>
          <p:nvPr/>
        </p:nvSpPr>
        <p:spPr>
          <a:xfrm rot="16200000">
            <a:off x="5651733" y="2483427"/>
            <a:ext cx="2443942" cy="1891145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en-US" altLang="zh-CN" sz="3200" dirty="0"/>
              <a:t>Decoder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4802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1981B-2048-8E19-451E-DB33E083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A91A-2396-2D07-7D91-4EF03C8D1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4293" y="324442"/>
            <a:ext cx="9792585" cy="1143000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Depthwise</a:t>
            </a:r>
            <a:r>
              <a:rPr lang="en-US" altLang="zh-CN" dirty="0"/>
              <a:t> Separable Convolution (DSC)</a:t>
            </a:r>
            <a:endParaRPr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94CB14-A730-4BF6-FB55-FDF01D43423D}"/>
              </a:ext>
            </a:extLst>
          </p:cNvPr>
          <p:cNvSpPr txBox="1"/>
          <p:nvPr/>
        </p:nvSpPr>
        <p:spPr>
          <a:xfrm>
            <a:off x="914400" y="5592726"/>
            <a:ext cx="6868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Slides from lecture 7 – CNN architectures</a:t>
            </a:r>
            <a:endParaRPr kumimoji="1" lang="zh-CN" altLang="en-US" dirty="0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D07DCB0E-D11B-94A3-4601-6553E128D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16" y="1680663"/>
            <a:ext cx="7772400" cy="349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7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5B3B7-F463-F5E9-1653-9C965B3AE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D33B1-1AA6-CD96-9189-EEA7AC212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5770" y="0"/>
            <a:ext cx="10529383" cy="1143000"/>
          </a:xfrm>
        </p:spPr>
        <p:txBody>
          <a:bodyPr>
            <a:normAutofit/>
          </a:bodyPr>
          <a:lstStyle/>
          <a:p>
            <a:r>
              <a:rPr lang="en-US" sz="4000" dirty="0"/>
              <a:t>Our Hypothesis</a:t>
            </a:r>
            <a:endParaRPr sz="4000" dirty="0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0FA044D1-DFC9-F5AF-C1C9-28EC834C96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35" t="22878" r="62290" b="23104"/>
          <a:stretch>
            <a:fillRect/>
          </a:stretch>
        </p:blipFill>
        <p:spPr>
          <a:xfrm>
            <a:off x="137435" y="1509279"/>
            <a:ext cx="3472670" cy="26796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73501F5-720B-7899-6AAB-358652200589}"/>
              </a:ext>
            </a:extLst>
          </p:cNvPr>
          <p:cNvSpPr txBox="1"/>
          <p:nvPr/>
        </p:nvSpPr>
        <p:spPr>
          <a:xfrm>
            <a:off x="3778741" y="2105561"/>
            <a:ext cx="7315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0" dirty="0">
                <a:solidFill>
                  <a:srgbClr val="FF0000"/>
                </a:solidFill>
              </a:rPr>
              <a:t>+</a:t>
            </a:r>
            <a:endParaRPr kumimoji="1" lang="zh-CN" altLang="en-US" sz="8000" dirty="0">
              <a:solidFill>
                <a:srgbClr val="FF0000"/>
              </a:solidFill>
            </a:endParaRP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3046A163-80BF-35E4-7BF7-4B83B74E6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534" y="1410855"/>
            <a:ext cx="4159031" cy="30156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A82E910-F793-89A4-3DED-A62B90FED701}"/>
              </a:ext>
            </a:extLst>
          </p:cNvPr>
          <p:cNvSpPr txBox="1"/>
          <p:nvPr/>
        </p:nvSpPr>
        <p:spPr>
          <a:xfrm>
            <a:off x="3884777" y="4555258"/>
            <a:ext cx="63176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8000" dirty="0">
                <a:solidFill>
                  <a:srgbClr val="FF0000"/>
                </a:solidFill>
              </a:rPr>
              <a:t>= </a:t>
            </a:r>
            <a:endParaRPr kumimoji="1" lang="zh-CN" altLang="en-US" sz="80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B541E4-B175-1487-284C-64F0796DECC9}"/>
              </a:ext>
            </a:extLst>
          </p:cNvPr>
          <p:cNvSpPr txBox="1"/>
          <p:nvPr/>
        </p:nvSpPr>
        <p:spPr>
          <a:xfrm>
            <a:off x="376806" y="5694146"/>
            <a:ext cx="86360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dirty="0"/>
              <a:t>More Lightweight Neural Style Transfer ?</a:t>
            </a:r>
            <a:endParaRPr kumimoji="1"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919317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51415" y="46553"/>
            <a:ext cx="8229600" cy="909802"/>
          </a:xfrm>
        </p:spPr>
        <p:txBody>
          <a:bodyPr/>
          <a:lstStyle/>
          <a:p>
            <a:r>
              <a:rPr lang="en-US" dirty="0"/>
              <a:t>Methods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5611"/>
            <a:ext cx="8229600" cy="1769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Baseline</a:t>
            </a:r>
            <a:r>
              <a:rPr lang="en-US" dirty="0"/>
              <a:t> </a:t>
            </a:r>
            <a:r>
              <a:rPr dirty="0"/>
              <a:t>: </a:t>
            </a:r>
            <a:endParaRPr lang="en-US" dirty="0"/>
          </a:p>
          <a:p>
            <a:pPr marL="0" indent="0">
              <a:buNone/>
            </a:pPr>
            <a:r>
              <a:rPr lang="da-DK" dirty="0"/>
              <a:t>Encoder + Residual + </a:t>
            </a:r>
            <a:r>
              <a:rPr lang="da-DK" dirty="0" err="1"/>
              <a:t>Decoder</a:t>
            </a:r>
            <a:endParaRPr lang="da-DK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77B80FEF-D819-C4E8-0B9B-A3D3DF7276FD}"/>
              </a:ext>
            </a:extLst>
          </p:cNvPr>
          <p:cNvSpPr/>
          <p:nvPr/>
        </p:nvSpPr>
        <p:spPr>
          <a:xfrm rot="5400000">
            <a:off x="241219" y="3673292"/>
            <a:ext cx="2444333" cy="2012372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3200" dirty="0"/>
              <a:t>Encoder</a:t>
            </a:r>
            <a:endParaRPr kumimoji="1" lang="zh-CN" altLang="en-US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8FE312-6536-C7EA-BD4D-B1EB61197BA0}"/>
              </a:ext>
            </a:extLst>
          </p:cNvPr>
          <p:cNvSpPr/>
          <p:nvPr/>
        </p:nvSpPr>
        <p:spPr>
          <a:xfrm>
            <a:off x="2764328" y="4039594"/>
            <a:ext cx="2394065" cy="129678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/>
              <a:t>Residual</a:t>
            </a:r>
            <a:endParaRPr kumimoji="1" lang="zh-CN" altLang="en-US" sz="3200" dirty="0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2622D150-26C2-6A57-19E0-C0065B13AA44}"/>
              </a:ext>
            </a:extLst>
          </p:cNvPr>
          <p:cNvSpPr/>
          <p:nvPr/>
        </p:nvSpPr>
        <p:spPr>
          <a:xfrm rot="16200000">
            <a:off x="5007842" y="3734100"/>
            <a:ext cx="2443942" cy="1891145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en-US" altLang="zh-CN" sz="3200" dirty="0"/>
              <a:t>Decoder</a:t>
            </a:r>
            <a:endParaRPr kumimoji="1" lang="zh-CN" alt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52121-0F70-56B6-35D4-27C88A6F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5B7A-372A-ED3F-7089-0C79C208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51415" y="46553"/>
            <a:ext cx="8229600" cy="909802"/>
          </a:xfrm>
        </p:spPr>
        <p:txBody>
          <a:bodyPr/>
          <a:lstStyle/>
          <a:p>
            <a:r>
              <a:rPr lang="en-US" dirty="0"/>
              <a:t>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FBCC7-BC1F-15B0-511C-DC16FF056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5611"/>
            <a:ext cx="8229600" cy="1769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Lightweight-v1 </a:t>
            </a:r>
            <a:r>
              <a:rPr dirty="0"/>
              <a:t>: </a:t>
            </a:r>
            <a:endParaRPr lang="en-US" dirty="0"/>
          </a:p>
          <a:p>
            <a:pPr marL="0" indent="0">
              <a:buNone/>
            </a:pPr>
            <a:r>
              <a:rPr lang="da-DK" dirty="0"/>
              <a:t>Encoder + </a:t>
            </a:r>
            <a:r>
              <a:rPr lang="da-DK" dirty="0">
                <a:solidFill>
                  <a:schemeClr val="accent6">
                    <a:lumMod val="75000"/>
                  </a:schemeClr>
                </a:solidFill>
              </a:rPr>
              <a:t>Lightweight Residual </a:t>
            </a:r>
            <a:r>
              <a:rPr lang="da-DK" dirty="0"/>
              <a:t>+ </a:t>
            </a:r>
            <a:r>
              <a:rPr lang="da-DK" dirty="0" err="1"/>
              <a:t>Decoder</a:t>
            </a:r>
            <a:endParaRPr lang="da-DK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5D36E9A1-1E9F-C8CB-32BA-2CBDAD5800E7}"/>
              </a:ext>
            </a:extLst>
          </p:cNvPr>
          <p:cNvSpPr/>
          <p:nvPr/>
        </p:nvSpPr>
        <p:spPr>
          <a:xfrm rot="5400000">
            <a:off x="241219" y="3673292"/>
            <a:ext cx="2444333" cy="2012372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3200" dirty="0"/>
              <a:t>Encoder</a:t>
            </a:r>
            <a:endParaRPr kumimoji="1" lang="zh-CN" altLang="en-US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BD7769-3747-AD24-D072-2F15BC479E42}"/>
              </a:ext>
            </a:extLst>
          </p:cNvPr>
          <p:cNvSpPr/>
          <p:nvPr/>
        </p:nvSpPr>
        <p:spPr>
          <a:xfrm>
            <a:off x="2764328" y="4039594"/>
            <a:ext cx="2394065" cy="12967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/>
              <a:t>Residual</a:t>
            </a:r>
            <a:endParaRPr kumimoji="1" lang="zh-CN" altLang="en-US" sz="3200" dirty="0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71179C20-B748-99F0-435C-5BD1F11060F6}"/>
              </a:ext>
            </a:extLst>
          </p:cNvPr>
          <p:cNvSpPr/>
          <p:nvPr/>
        </p:nvSpPr>
        <p:spPr>
          <a:xfrm rot="16200000">
            <a:off x="5007842" y="3734100"/>
            <a:ext cx="2443942" cy="1891145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en-US" altLang="zh-CN" sz="3200" dirty="0"/>
              <a:t>Decoder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35496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4A2E8-F6F6-605D-ECE2-12C429FB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23D-5227-DCDD-1F04-6B9E4A06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51415" y="46553"/>
            <a:ext cx="8229600" cy="909802"/>
          </a:xfrm>
        </p:spPr>
        <p:txBody>
          <a:bodyPr/>
          <a:lstStyle/>
          <a:p>
            <a:r>
              <a:rPr lang="en-US" dirty="0"/>
              <a:t>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88BFA-1E39-A1E2-EB8F-36A810E26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5611"/>
            <a:ext cx="8229600" cy="1769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Lightweight-v2 </a:t>
            </a:r>
            <a:r>
              <a:rPr dirty="0"/>
              <a:t>: </a:t>
            </a:r>
            <a:endParaRPr lang="en-US" dirty="0"/>
          </a:p>
          <a:p>
            <a:pPr marL="0" indent="0">
              <a:buNone/>
            </a:pPr>
            <a:r>
              <a:rPr lang="da-DK" dirty="0">
                <a:solidFill>
                  <a:srgbClr val="00B0F0"/>
                </a:solidFill>
              </a:rPr>
              <a:t>Lightweight Encoder </a:t>
            </a:r>
            <a:r>
              <a:rPr lang="da-DK" dirty="0"/>
              <a:t>+ </a:t>
            </a:r>
            <a:r>
              <a:rPr lang="da-DK" dirty="0">
                <a:solidFill>
                  <a:schemeClr val="accent6">
                    <a:lumMod val="75000"/>
                  </a:schemeClr>
                </a:solidFill>
              </a:rPr>
              <a:t>Lightweight Residual </a:t>
            </a:r>
            <a:r>
              <a:rPr lang="da-DK" dirty="0"/>
              <a:t>+ </a:t>
            </a:r>
            <a:r>
              <a:rPr lang="da-DK" dirty="0" err="1"/>
              <a:t>Decoder</a:t>
            </a:r>
            <a:endParaRPr lang="da-DK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BD17DAB3-8555-7C38-FDB6-9E24266FF982}"/>
              </a:ext>
            </a:extLst>
          </p:cNvPr>
          <p:cNvSpPr/>
          <p:nvPr/>
        </p:nvSpPr>
        <p:spPr>
          <a:xfrm rot="5400000">
            <a:off x="241219" y="3673292"/>
            <a:ext cx="2444333" cy="2012372"/>
          </a:xfrm>
          <a:prstGeom prst="trapezoi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3200" dirty="0"/>
              <a:t>Encoder</a:t>
            </a:r>
            <a:endParaRPr kumimoji="1" lang="zh-CN" altLang="en-US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9A4BE4-6434-DDF7-0816-C73A29EDE949}"/>
              </a:ext>
            </a:extLst>
          </p:cNvPr>
          <p:cNvSpPr/>
          <p:nvPr/>
        </p:nvSpPr>
        <p:spPr>
          <a:xfrm>
            <a:off x="2764328" y="4039594"/>
            <a:ext cx="2394065" cy="12967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/>
              <a:t>Residual</a:t>
            </a:r>
            <a:endParaRPr kumimoji="1" lang="zh-CN" altLang="en-US" sz="3200" dirty="0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151284C7-3272-6345-9DD0-697795D3FB52}"/>
              </a:ext>
            </a:extLst>
          </p:cNvPr>
          <p:cNvSpPr/>
          <p:nvPr/>
        </p:nvSpPr>
        <p:spPr>
          <a:xfrm rot="16200000">
            <a:off x="5007842" y="3734100"/>
            <a:ext cx="2443942" cy="1891145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en-US" altLang="zh-CN" sz="3200" dirty="0"/>
              <a:t>Decoder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58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8DAE7-9C97-9745-6A05-40B97D59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1464-F77A-1658-9E95-E8C93F40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51415" y="46553"/>
            <a:ext cx="8229600" cy="909802"/>
          </a:xfrm>
        </p:spPr>
        <p:txBody>
          <a:bodyPr/>
          <a:lstStyle/>
          <a:p>
            <a:r>
              <a:rPr lang="en-US" dirty="0"/>
              <a:t>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5EA14-5394-2EAB-E8F7-89C816972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5611"/>
            <a:ext cx="8229600" cy="1769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Lightweight-v3 </a:t>
            </a:r>
            <a:r>
              <a:rPr dirty="0"/>
              <a:t>: </a:t>
            </a:r>
            <a:endParaRPr lang="en-US" dirty="0"/>
          </a:p>
          <a:p>
            <a:pPr marL="0" indent="0">
              <a:buNone/>
            </a:pPr>
            <a:r>
              <a:rPr lang="da-DK" dirty="0">
                <a:solidFill>
                  <a:srgbClr val="00B0F0"/>
                </a:solidFill>
              </a:rPr>
              <a:t>Lightweight Encoder </a:t>
            </a:r>
            <a:r>
              <a:rPr lang="da-DK" dirty="0"/>
              <a:t>+ </a:t>
            </a:r>
            <a:r>
              <a:rPr lang="da-DK" dirty="0">
                <a:solidFill>
                  <a:schemeClr val="accent6">
                    <a:lumMod val="75000"/>
                  </a:schemeClr>
                </a:solidFill>
              </a:rPr>
              <a:t>Lightweight Residual </a:t>
            </a:r>
            <a:r>
              <a:rPr lang="da-DK" dirty="0"/>
              <a:t>+ </a:t>
            </a:r>
            <a:r>
              <a:rPr lang="da-DK" altLang="zh-CN" dirty="0">
                <a:solidFill>
                  <a:srgbClr val="00B0F0"/>
                </a:solidFill>
              </a:rPr>
              <a:t>Lightweight </a:t>
            </a:r>
            <a:r>
              <a:rPr lang="da-DK" altLang="zh-CN" dirty="0" err="1">
                <a:solidFill>
                  <a:srgbClr val="00B0F0"/>
                </a:solidFill>
              </a:rPr>
              <a:t>Decoder</a:t>
            </a:r>
            <a:endParaRPr dirty="0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F3F58362-BFA7-B10D-34F1-F4A7BAD0B19D}"/>
              </a:ext>
            </a:extLst>
          </p:cNvPr>
          <p:cNvSpPr/>
          <p:nvPr/>
        </p:nvSpPr>
        <p:spPr>
          <a:xfrm rot="5400000">
            <a:off x="241219" y="3673292"/>
            <a:ext cx="2444333" cy="2012372"/>
          </a:xfrm>
          <a:prstGeom prst="trapezoi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3200" dirty="0"/>
              <a:t>Encoder</a:t>
            </a:r>
            <a:endParaRPr kumimoji="1" lang="zh-CN" altLang="en-US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B7D727-6ECB-40E1-B3C3-5C53C083FCFC}"/>
              </a:ext>
            </a:extLst>
          </p:cNvPr>
          <p:cNvSpPr/>
          <p:nvPr/>
        </p:nvSpPr>
        <p:spPr>
          <a:xfrm>
            <a:off x="2764328" y="4039594"/>
            <a:ext cx="2394065" cy="12967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/>
              <a:t>Residual</a:t>
            </a:r>
            <a:endParaRPr kumimoji="1" lang="zh-CN" altLang="en-US" sz="3200" dirty="0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B0DF1C6A-58C2-E563-5434-2E80F8DB02B8}"/>
              </a:ext>
            </a:extLst>
          </p:cNvPr>
          <p:cNvSpPr/>
          <p:nvPr/>
        </p:nvSpPr>
        <p:spPr>
          <a:xfrm rot="16200000">
            <a:off x="5007842" y="3734100"/>
            <a:ext cx="2443942" cy="1891145"/>
          </a:xfrm>
          <a:prstGeom prst="trapezoi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en-US" altLang="zh-CN" sz="3200" dirty="0"/>
              <a:t>Decoder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16441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2EC6-24C2-85DF-60B3-C4E8633A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068D-9C4B-CD9A-577A-54736D75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52007" y="228600"/>
            <a:ext cx="8229600" cy="1143000"/>
          </a:xfrm>
        </p:spPr>
        <p:txBody>
          <a:bodyPr/>
          <a:lstStyle/>
          <a:p>
            <a:r>
              <a:rPr dirty="0"/>
              <a:t>Results</a:t>
            </a:r>
          </a:p>
        </p:txBody>
      </p:sp>
      <p:pic>
        <p:nvPicPr>
          <p:cNvPr id="6" name="内容占位符 5" descr="文本&#10;&#10;AI 生成的内容可能不正确。">
            <a:extLst>
              <a:ext uri="{FF2B5EF4-FFF2-40B4-BE49-F238E27FC236}">
                <a16:creationId xmlns:a16="http://schemas.microsoft.com/office/drawing/2014/main" id="{FA900B5B-68C3-27E0-127E-95B3D1AC14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8034"/>
          <a:stretch>
            <a:fillRect/>
          </a:stretch>
        </p:blipFill>
        <p:spPr>
          <a:xfrm>
            <a:off x="116378" y="2694096"/>
            <a:ext cx="8911244" cy="1744901"/>
          </a:xfrm>
        </p:spPr>
      </p:pic>
    </p:spTree>
    <p:extLst>
      <p:ext uri="{BB962C8B-B14F-4D97-AF65-F5344CB8AC3E}">
        <p14:creationId xmlns:p14="http://schemas.microsoft.com/office/powerpoint/2010/main" val="5286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0000000984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54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Original</a:t>
            </a:r>
          </a:p>
        </p:txBody>
      </p:sp>
      <p:pic>
        <p:nvPicPr>
          <p:cNvPr id="5" name="Picture 4" descr="000000098497_Baseli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82880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83280" y="4754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Baseline</a:t>
            </a:r>
          </a:p>
        </p:txBody>
      </p:sp>
      <p:pic>
        <p:nvPicPr>
          <p:cNvPr id="7" name="Picture 6" descr="000000098497_v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828800"/>
            <a:ext cx="27432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754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Lightweight-v3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8C26A45-A9C4-F887-9B0F-439F5C2B3AE1}"/>
              </a:ext>
            </a:extLst>
          </p:cNvPr>
          <p:cNvSpPr txBox="1">
            <a:spLocks/>
          </p:cNvSpPr>
          <p:nvPr/>
        </p:nvSpPr>
        <p:spPr>
          <a:xfrm>
            <a:off x="-2818013" y="243147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 err="1"/>
              <a:t>Results</a:t>
            </a:r>
            <a:endParaRPr lang="da-DK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5284C-9F64-4033-81AF-763E1DA1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444E-DA84-9D1B-56C1-95A10BBD44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Thanks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1E74A-5ED6-5E9C-AD18-C61D8D4F9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459637"/>
            <a:ext cx="6400800" cy="1752600"/>
          </a:xfrm>
        </p:spPr>
        <p:txBody>
          <a:bodyPr/>
          <a:lstStyle/>
          <a:p>
            <a:r>
              <a:rPr lang="en-US" dirty="0"/>
              <a:t>Group 37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140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370</Words>
  <Application>Microsoft Macintosh PowerPoint</Application>
  <PresentationFormat>全屏显示(4:3)</PresentationFormat>
  <Paragraphs>77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Arial</vt:lpstr>
      <vt:lpstr>Calibri</vt:lpstr>
      <vt:lpstr>Office Theme</vt:lpstr>
      <vt:lpstr>Can depthwise separable convolution make neural style transfer more lightweight?</vt:lpstr>
      <vt:lpstr>Neural Style Transfer – Original Method</vt:lpstr>
      <vt:lpstr>Neural Style Transfer – Johnson’s Method</vt:lpstr>
      <vt:lpstr>Depthwise Separable Convolution (DSC)</vt:lpstr>
      <vt:lpstr>Our Hypothesis</vt:lpstr>
      <vt:lpstr>Methods</vt:lpstr>
      <vt:lpstr>Methods</vt:lpstr>
      <vt:lpstr>Methods</vt:lpstr>
      <vt:lpstr>Methods</vt:lpstr>
      <vt:lpstr>Results</vt:lpstr>
      <vt:lpstr>PowerPoint 演示文稿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Shichao Guo</cp:lastModifiedBy>
  <cp:revision>8</cp:revision>
  <dcterms:created xsi:type="dcterms:W3CDTF">2013-01-27T09:14:16Z</dcterms:created>
  <dcterms:modified xsi:type="dcterms:W3CDTF">2025-12-06T00:15:54Z</dcterms:modified>
  <cp:category/>
</cp:coreProperties>
</file>